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tags/tag4.xml" ContentType="application/vnd.openxmlformats-officedocument.presentationml.tags+xml"/>
  <Override PartName="/ppt/notesSlides/notesSlide8.xml" ContentType="application/vnd.openxmlformats-officedocument.presentationml.notesSlide+xml"/>
  <Override PartName="/ppt/tags/tag5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5"/>
  </p:notesMasterIdLst>
  <p:handoutMasterIdLst>
    <p:handoutMasterId r:id="rId16"/>
  </p:handoutMasterIdLst>
  <p:sldIdLst>
    <p:sldId id="312" r:id="rId5"/>
    <p:sldId id="304" r:id="rId6"/>
    <p:sldId id="307" r:id="rId7"/>
    <p:sldId id="314" r:id="rId8"/>
    <p:sldId id="282" r:id="rId9"/>
    <p:sldId id="281" r:id="rId10"/>
    <p:sldId id="317" r:id="rId11"/>
    <p:sldId id="315" r:id="rId12"/>
    <p:sldId id="321" r:id="rId13"/>
    <p:sldId id="297" r:id="rId14"/>
  </p:sldIdLst>
  <p:sldSz cx="12192000" cy="6858000"/>
  <p:notesSz cx="13716000" cy="24384000"/>
  <p:defaultTextStyle>
    <a:defPPr rtl="0">
      <a:defRPr lang="fr-FR"/>
    </a:defPPr>
    <a:lvl1pPr marL="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5B8E"/>
    <a:srgbClr val="DF8C8C"/>
    <a:srgbClr val="202C8F"/>
    <a:srgbClr val="FDFBF6"/>
    <a:srgbClr val="AAC4E9"/>
    <a:srgbClr val="F5CDCE"/>
    <a:srgbClr val="D4D593"/>
    <a:srgbClr val="E6F0FE"/>
    <a:srgbClr val="CDBE8A"/>
    <a:srgbClr val="F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80" d="100"/>
          <a:sy n="80" d="100"/>
        </p:scale>
        <p:origin x="528" y="8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1" d="100"/>
          <a:sy n="31" d="100"/>
        </p:scale>
        <p:origin x="4392" y="1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A7C9947C-0B99-4CC9-AA3C-4A4AC8D4662C}" type="datetimeyyyy">
              <a:rPr lang="fr-FR" smtClean="0"/>
              <a:t>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420BD0AB-C59E-4A46-83D3-F07787446BA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Passer a la slide suivante pour l’objectif</a:t>
            </a:r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Extraction Transformation Chargement (</a:t>
            </a:r>
            <a:r>
              <a:rPr lang="fr-FR" dirty="0" err="1"/>
              <a:t>Load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J’ai préparé un lien vers mon repository pour regarder quelques fichiers du repo</a:t>
            </a:r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0" name="Freeform: Forme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" name="Freeform: Form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orme libre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" name="Forme libre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orme libre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4" name="Image 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fr-FR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fr-FR" sz="18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Forme 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/>
            </a:p>
          </p:txBody>
        </p:sp>
        <p:sp>
          <p:nvSpPr>
            <p:cNvPr id="15" name="Freeform: Forme 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 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2" name="Titr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fr-FR" sz="3600" b="1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8" name="Espace réservé d’image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fr-FR" sz="1800"/>
            </a:lvl1pPr>
          </a:lstStyle>
          <a:p>
            <a:pPr lvl="0" rtl="0"/>
            <a:r>
              <a:rPr lang="fr-FR"/>
              <a:t>Cliquez ici pour ajouter une image.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 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sp>
        <p:nvSpPr>
          <p:cNvPr id="36" name="Forme libre 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3" name="Forme libre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lvl="0" algn="ctr" rtl="0"/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Cliquer pour ajouter du texte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fr-F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fr-FR" sz="24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  <p:sp>
        <p:nvSpPr>
          <p:cNvPr id="52" name="Espace réservé d’image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fr-FR" sz="1800"/>
            </a:lvl1pPr>
          </a:lstStyle>
          <a:p>
            <a:pPr lvl="0" rtl="0"/>
            <a:r>
              <a:rPr lang="fr-FR"/>
              <a:t>Cliquez ici pour ajouter une image.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 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3" name="Freeform: Forme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9" name="Forme libre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31" name="Forme libre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33" name="Image 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fr-FR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3" name="Espace réservé du contenu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fr-FR" sz="1800"/>
            </a:lvl1pPr>
            <a:lvl2pPr>
              <a:spcBef>
                <a:spcPts val="1000"/>
              </a:spcBef>
              <a:defRPr lang="fr-FR" sz="1800"/>
            </a:lvl2pPr>
            <a:lvl3pPr>
              <a:spcBef>
                <a:spcPts val="1000"/>
              </a:spcBef>
              <a:defRPr lang="fr-FR" sz="1800"/>
            </a:lvl3pPr>
            <a:lvl4pPr>
              <a:spcBef>
                <a:spcPts val="1000"/>
              </a:spcBef>
              <a:defRPr lang="fr-FR" sz="1800"/>
            </a:lvl4pPr>
            <a:lvl5pPr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8" name="Espace réservé du numéro de diapositive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r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13" name="Image 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Forme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7" name="Image 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19" name="Image 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Espace réservé du numéro de diapositive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fr-F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fr-FR" sz="24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 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rme libre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" name="Forme libre 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4" name="Forme libre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6" name="Forme libre 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0" name="Titr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9" name="Espace réservé du numéro de diapositive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3" name="Espace réservé du contenu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fr-FR" sz="1800"/>
            </a:lvl1pPr>
            <a:lvl2pPr marL="283464" indent="-283464">
              <a:spcBef>
                <a:spcPts val="1000"/>
              </a:spcBef>
              <a:defRPr lang="fr-FR" sz="1800"/>
            </a:lvl2pPr>
            <a:lvl3pPr marL="283464" indent="-283464">
              <a:spcBef>
                <a:spcPts val="1000"/>
              </a:spcBef>
              <a:defRPr lang="fr-FR" sz="1800"/>
            </a:lvl3pPr>
            <a:lvl4pPr marL="283464" indent="-283464">
              <a:spcBef>
                <a:spcPts val="1000"/>
              </a:spcBef>
              <a:defRPr lang="fr-FR" sz="1800"/>
            </a:lvl4pPr>
            <a:lvl5pPr marL="283464"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25" name="Espace réservé du contenu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fr-FR" sz="1800"/>
            </a:lvl1pPr>
            <a:lvl2pPr marL="283464" indent="-283464">
              <a:spcBef>
                <a:spcPts val="1000"/>
              </a:spcBef>
              <a:defRPr lang="fr-FR" sz="1800"/>
            </a:lvl2pPr>
            <a:lvl3pPr marL="283464" indent="-283464">
              <a:spcBef>
                <a:spcPts val="1000"/>
              </a:spcBef>
              <a:defRPr lang="fr-FR" sz="1800"/>
            </a:lvl3pPr>
            <a:lvl4pPr marL="283464" indent="-283464">
              <a:spcBef>
                <a:spcPts val="1000"/>
              </a:spcBef>
              <a:defRPr lang="fr-FR" sz="1800"/>
            </a:lvl4pPr>
            <a:lvl5pPr marL="283464"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fr-F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fr-FR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fr-FR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fr-FR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fr-FR" sz="1800"/>
            </a:lvl4pPr>
            <a:lvl5pPr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fr-FR" sz="1800"/>
            </a:lvl1pPr>
            <a:lvl2pPr indent="-283464">
              <a:spcBef>
                <a:spcPts val="1000"/>
              </a:spcBef>
              <a:defRPr lang="fr-FR" sz="1800"/>
            </a:lvl2pPr>
            <a:lvl3pPr indent="-283464">
              <a:spcBef>
                <a:spcPts val="1000"/>
              </a:spcBef>
              <a:defRPr lang="fr-FR" sz="1800"/>
            </a:lvl3pPr>
            <a:lvl4pPr indent="-283464">
              <a:spcBef>
                <a:spcPts val="1000"/>
              </a:spcBef>
              <a:defRPr lang="fr-FR" sz="1800"/>
            </a:lvl4pPr>
            <a:lvl5pPr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31" name="Espace réservé d’image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fr-FR" sz="1800"/>
            </a:lvl1pPr>
          </a:lstStyle>
          <a:p>
            <a:pPr lvl="0" rtl="0"/>
            <a:r>
              <a:rPr lang="fr-FR"/>
              <a:t>Cliquez ici pour ajouter une image.</a:t>
            </a:r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Forme 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/>
            </a:p>
          </p:txBody>
        </p:sp>
        <p:sp>
          <p:nvSpPr>
            <p:cNvPr id="21" name="Forme libre : Forme 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Forme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 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44" name="Espace réservé du numéro de diapositive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e libre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6" name="Image 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4" name="Forme libre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21" name="Image 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orme libre 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 b="1"/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0" name="Espace réservé du contenu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fr-F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fr-FR" sz="24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  <p:sp>
        <p:nvSpPr>
          <p:cNvPr id="10" name="Espace réservé d’image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fr-FR" sz="1800"/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20" name="Espace réservé du numéro de diapositive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e libre 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/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0" name="Image 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fr-F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4" name="Espace réservé du texte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fr-FR" sz="1800"/>
            </a:lvl1pPr>
          </a:lstStyle>
          <a:p>
            <a:pPr rtl="0"/>
            <a:r>
              <a:rPr lang="fr-FR"/>
              <a:t>Cliquez pour ajouter un sous-titre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fr-FR" sz="1800"/>
            </a:lvl1pPr>
            <a:lvl2pPr>
              <a:defRPr lang="fr-FR" sz="1800"/>
            </a:lvl2pPr>
            <a:lvl3pPr>
              <a:defRPr lang="fr-FR" sz="1800"/>
            </a:lvl3pPr>
            <a:lvl4pPr>
              <a:defRPr lang="fr-FR" sz="1800"/>
            </a:lvl4pPr>
            <a:lvl5pPr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20" name="Espace réservé du numéro de diapositive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sme 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 b="1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49" name="Forme libre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6" name="Espace réservé du contenu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fr-FR" sz="1800"/>
            </a:lvl1pPr>
            <a:lvl2pPr>
              <a:spcBef>
                <a:spcPts val="1000"/>
              </a:spcBef>
              <a:defRPr lang="fr-FR" sz="1800"/>
            </a:lvl2pPr>
            <a:lvl3pPr>
              <a:spcBef>
                <a:spcPts val="1000"/>
              </a:spcBef>
              <a:defRPr lang="fr-FR" sz="1800"/>
            </a:lvl3pPr>
            <a:lvl4pPr>
              <a:spcBef>
                <a:spcPts val="1000"/>
              </a:spcBef>
              <a:defRPr lang="fr-FR" sz="1800"/>
            </a:lvl4pPr>
            <a:lvl5pPr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8" name="Espace réservé du contenu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fr-FR" sz="1800"/>
            </a:lvl1pPr>
            <a:lvl2pPr>
              <a:spcBef>
                <a:spcPts val="1000"/>
              </a:spcBef>
              <a:defRPr lang="fr-FR" sz="1800"/>
            </a:lvl2pPr>
            <a:lvl3pPr>
              <a:spcBef>
                <a:spcPts val="1000"/>
              </a:spcBef>
              <a:defRPr lang="fr-FR" sz="1800"/>
            </a:lvl3pPr>
            <a:lvl4pPr>
              <a:spcBef>
                <a:spcPts val="1000"/>
              </a:spcBef>
              <a:defRPr lang="fr-FR" sz="1800"/>
            </a:lvl4pPr>
            <a:lvl5pPr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27" name="Espace réservé du numéro de diapositive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43" name="Graphisme 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sme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 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fr-F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4" name="Espace réservé du contenu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fr-FR" sz="1800"/>
            </a:lvl1pPr>
            <a:lvl2pPr>
              <a:spcBef>
                <a:spcPts val="1000"/>
              </a:spcBef>
              <a:defRPr lang="fr-FR" sz="1800"/>
            </a:lvl2pPr>
            <a:lvl3pPr>
              <a:spcBef>
                <a:spcPts val="1000"/>
              </a:spcBef>
              <a:defRPr lang="fr-FR" sz="1800"/>
            </a:lvl3pPr>
            <a:lvl4pPr>
              <a:spcBef>
                <a:spcPts val="1000"/>
              </a:spcBef>
              <a:defRPr lang="fr-FR" sz="1800"/>
            </a:lvl4pPr>
            <a:lvl5pPr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6" name="Espace réservé du numéro de diapositive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ôtur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Forme 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9" name="Forme libre : Forme 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9" name="Image 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fr-FR" sz="2400"/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 : Forme 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9" name="Forme libre : Forme 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fr-FR"/>
            </a:def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>
                <a:latin typeface="+mn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Forme libre : Forme 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>
                <a:latin typeface="+mn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Forme 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fr-FR" sz="32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>
                <a:latin typeface="+mn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fr-FR" sz="1600"/>
            </a:lvl1pPr>
            <a:lvl2pPr marL="457200" indent="0">
              <a:buNone/>
              <a:defRPr lang="fr-FR" sz="1400"/>
            </a:lvl2pPr>
            <a:lvl3pPr marL="914400" indent="0">
              <a:buNone/>
              <a:defRPr lang="fr-FR" sz="1200"/>
            </a:lvl3pPr>
            <a:lvl4pPr marL="1371600" indent="0">
              <a:buNone/>
              <a:defRPr lang="fr-FR" sz="1000"/>
            </a:lvl4pPr>
            <a:lvl5pPr marL="1828800" indent="0">
              <a:buNone/>
              <a:defRPr lang="fr-FR" sz="1000"/>
            </a:lvl5pPr>
            <a:lvl6pPr marL="2286000" indent="0">
              <a:buNone/>
              <a:defRPr lang="fr-FR" sz="1000"/>
            </a:lvl6pPr>
            <a:lvl7pPr marL="2743200" indent="0">
              <a:buNone/>
              <a:defRPr lang="fr-FR" sz="1000"/>
            </a:lvl7pPr>
            <a:lvl8pPr marL="3200400" indent="0">
              <a:buNone/>
              <a:defRPr lang="fr-FR" sz="1000"/>
            </a:lvl8pPr>
            <a:lvl9pPr marL="3657600" indent="0">
              <a:buNone/>
              <a:defRPr lang="fr-FR" sz="1000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fr-FR" sz="3200"/>
            </a:lvl1pPr>
            <a:lvl2pPr>
              <a:defRPr lang="fr-FR" sz="2800"/>
            </a:lvl2pPr>
            <a:lvl3pPr>
              <a:defRPr lang="fr-FR" sz="2400"/>
            </a:lvl3pPr>
            <a:lvl4pPr>
              <a:defRPr lang="fr-FR" sz="2000"/>
            </a:lvl4pPr>
            <a:lvl5pPr>
              <a:defRPr lang="fr-FR" sz="2000"/>
            </a:lvl5pPr>
            <a:lvl6pPr>
              <a:defRPr lang="fr-FR" sz="2000"/>
            </a:lvl6pPr>
            <a:lvl7pPr>
              <a:defRPr lang="fr-FR" sz="2000"/>
            </a:lvl7pPr>
            <a:lvl8pPr>
              <a:defRPr lang="fr-FR" sz="2000"/>
            </a:lvl8pPr>
            <a:lvl9pPr>
              <a:defRPr lang="fr-FR" sz="2000"/>
            </a:lvl9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Forme 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fr-FR" sz="32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>
                <a:latin typeface="+mn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fr-FR" sz="1600"/>
            </a:lvl1pPr>
            <a:lvl2pPr marL="457200" indent="0">
              <a:buNone/>
              <a:defRPr lang="fr-FR" sz="1400"/>
            </a:lvl2pPr>
            <a:lvl3pPr marL="914400" indent="0">
              <a:buNone/>
              <a:defRPr lang="fr-FR" sz="1200"/>
            </a:lvl3pPr>
            <a:lvl4pPr marL="1371600" indent="0">
              <a:buNone/>
              <a:defRPr lang="fr-FR" sz="1000"/>
            </a:lvl4pPr>
            <a:lvl5pPr marL="1828800" indent="0">
              <a:buNone/>
              <a:defRPr lang="fr-FR" sz="1000"/>
            </a:lvl5pPr>
            <a:lvl6pPr marL="2286000" indent="0">
              <a:buNone/>
              <a:defRPr lang="fr-FR" sz="1000"/>
            </a:lvl6pPr>
            <a:lvl7pPr marL="2743200" indent="0">
              <a:buNone/>
              <a:defRPr lang="fr-FR" sz="1000"/>
            </a:lvl7pPr>
            <a:lvl8pPr marL="3200400" indent="0">
              <a:buNone/>
              <a:defRPr lang="fr-FR" sz="1000"/>
            </a:lvl8pPr>
            <a:lvl9pPr marL="3657600" indent="0">
              <a:buNone/>
              <a:defRPr lang="fr-FR" sz="1000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fr-FR" sz="2800"/>
            </a:lvl1pPr>
            <a:lvl2pPr marL="457200" indent="0">
              <a:buNone/>
              <a:defRPr lang="fr-FR" sz="2800"/>
            </a:lvl2pPr>
            <a:lvl3pPr marL="914400" indent="0">
              <a:buNone/>
              <a:defRPr lang="fr-FR" sz="2400"/>
            </a:lvl3pPr>
            <a:lvl4pPr marL="1371600" indent="0">
              <a:buNone/>
              <a:defRPr lang="fr-FR" sz="2000"/>
            </a:lvl4pPr>
            <a:lvl5pPr marL="1828800" indent="0">
              <a:buNone/>
              <a:defRPr lang="fr-FR" sz="2000"/>
            </a:lvl5pPr>
            <a:lvl6pPr marL="2286000" indent="0">
              <a:buNone/>
              <a:defRPr lang="fr-FR" sz="2000"/>
            </a:lvl6pPr>
            <a:lvl7pPr marL="2743200" indent="0">
              <a:buNone/>
              <a:defRPr lang="fr-FR" sz="2000"/>
            </a:lvl7pPr>
            <a:lvl8pPr marL="3200400" indent="0">
              <a:buNone/>
              <a:defRPr lang="fr-FR" sz="2000"/>
            </a:lvl8pPr>
            <a:lvl9pPr marL="3657600" indent="0">
              <a:buNone/>
              <a:defRPr lang="fr-FR" sz="2000"/>
            </a:lvl9pPr>
          </a:lstStyle>
          <a:p>
            <a:pPr rtl="0"/>
            <a:r>
              <a:rPr lang="fr-FR"/>
              <a:t>Cliquez ici pour ajouter une image.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fr-FR"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fr-FR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books.toscrape.com/index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Relationship Id="rId6" Type="http://schemas.openxmlformats.org/officeDocument/2006/relationships/hyperlink" Target="https://github.com/MagNott/P2_Analyse_Marche/blob/main/README.md" TargetMode="Externa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2931" y="2235657"/>
            <a:ext cx="5746140" cy="2258706"/>
          </a:xfrm>
        </p:spPr>
        <p:txBody>
          <a:bodyPr rtlCol="0" anchor="ctr"/>
          <a:lstStyle>
            <a:defPPr>
              <a:defRPr lang="fr-FR"/>
            </a:defPPr>
          </a:lstStyle>
          <a:p>
            <a:pPr>
              <a:lnSpc>
                <a:spcPts val="3600"/>
              </a:lnSpc>
            </a:pPr>
            <a:r>
              <a:rPr lang="fr-FR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Extraction de données et création d’un pipeline ETL avec Python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ED4E84F-00E2-192B-3682-762C6E8EE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507" y="843970"/>
            <a:ext cx="1678106" cy="1124752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4CC1C893-F3EF-9A73-B2C0-6C8B6D124C09}"/>
              </a:ext>
            </a:extLst>
          </p:cNvPr>
          <p:cNvSpPr txBox="1"/>
          <p:nvPr/>
        </p:nvSpPr>
        <p:spPr>
          <a:xfrm>
            <a:off x="3504781" y="176925"/>
            <a:ext cx="5182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cap="all" dirty="0">
                <a:solidFill>
                  <a:schemeClr val="accent6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Books Online – Magali </a:t>
            </a:r>
            <a:r>
              <a:rPr lang="fr-FR" sz="2000" b="1" cap="all" dirty="0" err="1">
                <a:solidFill>
                  <a:schemeClr val="accent6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Notteghem</a:t>
            </a:r>
            <a:endParaRPr lang="fr-FR" sz="2000" b="1" cap="all" dirty="0">
              <a:solidFill>
                <a:schemeClr val="accent6"/>
              </a:solidFill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85510"/>
            <a:ext cx="3154680" cy="66839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605030"/>
            <a:ext cx="4641011" cy="3647939"/>
          </a:xfrm>
        </p:spPr>
        <p:txBody>
          <a:bodyPr rtlCol="0">
            <a:noAutofit/>
          </a:bodyPr>
          <a:lstStyle>
            <a:defPPr>
              <a:defRPr lang="fr-FR"/>
            </a:defPPr>
          </a:lstStyle>
          <a:p>
            <a:pPr marL="457200" indent="-457200" rtl="0">
              <a:buFont typeface="+mj-lt"/>
              <a:buAutoNum type="arabicPeriod"/>
            </a:pPr>
            <a:r>
              <a:rPr lang="fr-FR" sz="2200" dirty="0">
                <a:latin typeface="Arial Rounded MT Bold" panose="020F0704030504030204" pitchFamily="34" charset="0"/>
              </a:rPr>
              <a:t>Contexte</a:t>
            </a:r>
          </a:p>
          <a:p>
            <a:pPr marL="457200" indent="-457200" rtl="0">
              <a:buFont typeface="+mj-lt"/>
              <a:buAutoNum type="arabicPeriod"/>
            </a:pPr>
            <a:r>
              <a:rPr lang="fr-FR" sz="2200" dirty="0">
                <a:latin typeface="Arial Rounded MT Bold" panose="020F0704030504030204" pitchFamily="34" charset="0"/>
              </a:rPr>
              <a:t>Objectif du projet</a:t>
            </a:r>
          </a:p>
          <a:p>
            <a:pPr marL="457200" indent="-457200" rtl="0">
              <a:buFont typeface="+mj-lt"/>
              <a:buAutoNum type="arabicPeriod"/>
            </a:pPr>
            <a:r>
              <a:rPr lang="fr-FR" sz="2200" dirty="0">
                <a:latin typeface="Arial Rounded MT Bold" panose="020F0704030504030204" pitchFamily="34" charset="0"/>
              </a:rPr>
              <a:t>Processus et méthodologie</a:t>
            </a:r>
          </a:p>
          <a:p>
            <a:pPr marL="457200" indent="-457200" rtl="0">
              <a:buFont typeface="+mj-lt"/>
              <a:buAutoNum type="arabicPeriod"/>
            </a:pPr>
            <a:r>
              <a:rPr lang="fr-FR" sz="2200" dirty="0">
                <a:latin typeface="Arial Rounded MT Bold" panose="020F0704030504030204" pitchFamily="34" charset="0"/>
              </a:rPr>
              <a:t>Démonstration technique</a:t>
            </a:r>
          </a:p>
          <a:p>
            <a:pPr marL="457200" indent="-457200" rtl="0">
              <a:buFont typeface="+mj-lt"/>
              <a:buAutoNum type="arabicPeriod"/>
            </a:pPr>
            <a:r>
              <a:rPr lang="fr-FR" sz="2200" dirty="0">
                <a:latin typeface="Arial Rounded MT Bold" panose="020F0704030504030204" pitchFamily="34" charset="0"/>
              </a:rPr>
              <a:t>Points clés de l’application</a:t>
            </a:r>
          </a:p>
          <a:p>
            <a:pPr marL="457200" indent="-457200" rtl="0">
              <a:buFont typeface="+mj-lt"/>
              <a:buAutoNum type="arabicPeriod"/>
            </a:pPr>
            <a:r>
              <a:rPr lang="fr-FR" sz="2200" dirty="0">
                <a:latin typeface="Arial Rounded MT Bold" panose="020F0704030504030204" pitchFamily="34" charset="0"/>
              </a:rPr>
              <a:t>Améliorations possibles</a:t>
            </a:r>
          </a:p>
          <a:p>
            <a:pPr marL="457200" indent="-457200" rtl="0">
              <a:buFont typeface="+mj-lt"/>
              <a:buAutoNum type="arabicPeriod"/>
            </a:pPr>
            <a:r>
              <a:rPr lang="fr-FR" sz="2200" dirty="0">
                <a:latin typeface="Arial Rounded MT Bold" panose="020F0704030504030204" pitchFamily="34" charset="0"/>
              </a:rPr>
              <a:t>Questions et discussions</a:t>
            </a: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266" y="370935"/>
            <a:ext cx="2987810" cy="151698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CONTEXTE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BF0D9EE-193C-3D21-24E0-48A97C3EA4F1}"/>
              </a:ext>
            </a:extLst>
          </p:cNvPr>
          <p:cNvSpPr txBox="1"/>
          <p:nvPr/>
        </p:nvSpPr>
        <p:spPr>
          <a:xfrm>
            <a:off x="1095553" y="2319876"/>
            <a:ext cx="87126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accent6"/>
                </a:solidFill>
                <a:latin typeface="Arial Rounded MT Bold" panose="020F0704030504030204" pitchFamily="34" charset="0"/>
              </a:rPr>
              <a:t>Analyste marketing chez Books Online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accent6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accent6"/>
                </a:solidFill>
                <a:latin typeface="Arial Rounded MT Bold" panose="020F0704030504030204" pitchFamily="34" charset="0"/>
              </a:rPr>
              <a:t>Suivre des prix de nos concurrents en ligne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accent6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accent6"/>
                </a:solidFill>
                <a:latin typeface="Arial Rounded MT Bold" panose="020F0704030504030204" pitchFamily="34" charset="0"/>
              </a:rPr>
              <a:t>Améliorer la performance  de la veille concurrentielle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7056" y="122605"/>
            <a:ext cx="6254496" cy="744093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Objectif du projet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 txBox="1">
            <a:spLocks/>
          </p:cNvSpPr>
          <p:nvPr/>
        </p:nvSpPr>
        <p:spPr>
          <a:xfrm>
            <a:off x="3877057" y="1027886"/>
            <a:ext cx="6724808" cy="1688076"/>
          </a:xfrm>
          <a:prstGeom prst="rect">
            <a:avLst/>
          </a:prstGeom>
        </p:spPr>
        <p:txBody>
          <a:bodyPr rtlCol="0">
            <a:normAutofit/>
          </a:bodyPr>
          <a:lstStyle>
            <a:defPPr>
              <a:defRPr lang="fr-FR"/>
            </a:defPPr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600" dirty="0">
                <a:latin typeface="Arial Rounded MT Bold" panose="020F0704030504030204" pitchFamily="34" charset="0"/>
              </a:rPr>
              <a:t>Créer un script Python pour un pipeline ETL complet pour extraire les informations du site Book to </a:t>
            </a:r>
            <a:r>
              <a:rPr lang="fr-FR" sz="2600" dirty="0" err="1">
                <a:latin typeface="Arial Rounded MT Bold" panose="020F0704030504030204" pitchFamily="34" charset="0"/>
              </a:rPr>
              <a:t>Scrape</a:t>
            </a:r>
            <a:r>
              <a:rPr lang="fr-FR" sz="2600" dirty="0">
                <a:latin typeface="Arial Rounded MT Bold" panose="020F0704030504030204" pitchFamily="34" charset="0"/>
              </a:rPr>
              <a:t> </a:t>
            </a:r>
          </a:p>
          <a:p>
            <a:pPr marL="0" indent="0">
              <a:buNone/>
            </a:pPr>
            <a:endParaRPr lang="fr-FR" dirty="0">
              <a:latin typeface="Arial Rounded MT Bold" panose="020F070403050403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80C8A79-851D-43FE-57C7-CB1B35C146FC}"/>
              </a:ext>
            </a:extLst>
          </p:cNvPr>
          <p:cNvSpPr txBox="1"/>
          <p:nvPr/>
        </p:nvSpPr>
        <p:spPr>
          <a:xfrm>
            <a:off x="3877056" y="2613392"/>
            <a:ext cx="769096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fr-FR" sz="2000" b="1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Problématiques : </a:t>
            </a:r>
          </a:p>
          <a:p>
            <a:pPr defTabSz="914400"/>
            <a:endParaRPr lang="fr-FR" sz="2000" b="1" dirty="0">
              <a:solidFill>
                <a:schemeClr val="accent6"/>
              </a:solidFill>
              <a:latin typeface="Arial Rounded MT Bold" panose="020F0704030504030204" pitchFamily="34" charset="0"/>
            </a:endParaRPr>
          </a:p>
          <a:p>
            <a:pPr marL="800100" lvl="1" indent="-342900" defTabSz="9144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accent6"/>
                </a:solidFill>
                <a:latin typeface="Arial Rounded MT Bold" panose="020F0704030504030204" pitchFamily="34" charset="0"/>
              </a:rPr>
              <a:t>Automatiser l'extraction des données et les stocker dans un fichier CSV</a:t>
            </a:r>
          </a:p>
          <a:p>
            <a:pPr marL="800100" lvl="1" indent="-342900" defTabSz="9144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accent6"/>
                </a:solidFill>
                <a:latin typeface="Arial Rounded MT Bold" panose="020F0704030504030204" pitchFamily="34" charset="0"/>
              </a:rPr>
              <a:t>Télécharger les images associées au livres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24F3F0B-7D46-984F-7E23-332EF9D5A13B}"/>
              </a:ext>
            </a:extLst>
          </p:cNvPr>
          <p:cNvSpPr txBox="1"/>
          <p:nvPr/>
        </p:nvSpPr>
        <p:spPr>
          <a:xfrm>
            <a:off x="3877057" y="4628220"/>
            <a:ext cx="7898001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fr-FR" sz="2000" b="1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Contraintes : </a:t>
            </a:r>
          </a:p>
          <a:p>
            <a:pPr defTabSz="914400"/>
            <a:endParaRPr lang="fr-FR" sz="2000" b="1" dirty="0">
              <a:solidFill>
                <a:schemeClr val="accent6"/>
              </a:solidFill>
              <a:latin typeface="Arial Rounded MT Bold" panose="020F0704030504030204" pitchFamily="34" charset="0"/>
            </a:endParaRPr>
          </a:p>
          <a:p>
            <a:pPr marL="800100" lvl="1" indent="-342900" defTabSz="9144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accent6"/>
                </a:solidFill>
                <a:latin typeface="Arial Rounded MT Bold" panose="020F0704030504030204" pitchFamily="34" charset="0"/>
              </a:rPr>
              <a:t>Fiabilité et lisibilité des informations extraites</a:t>
            </a:r>
          </a:p>
          <a:p>
            <a:pPr marL="800100" lvl="1" indent="-342900" defTabSz="9144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accent6"/>
                </a:solidFill>
                <a:latin typeface="Arial Rounded MT Bold" panose="020F0704030504030204" pitchFamily="34" charset="0"/>
              </a:rPr>
              <a:t>Structure de dossiers et fichiers clairs</a:t>
            </a:r>
          </a:p>
          <a:p>
            <a:pPr marL="800100" lvl="1" indent="-342900" defTabSz="9144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accent6"/>
                </a:solidFill>
                <a:latin typeface="Arial Rounded MT Bold" panose="020F0704030504030204" pitchFamily="34" charset="0"/>
              </a:rPr>
              <a:t>Documenter et fournir un code réutilisable</a:t>
            </a:r>
          </a:p>
          <a:p>
            <a:pPr marL="800100" lvl="1" indent="-342900" defTabSz="9144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accent6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070" y="139691"/>
            <a:ext cx="8551762" cy="65583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Processus et méthodologie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33702" y="1185045"/>
            <a:ext cx="6910629" cy="3140068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0" indent="0">
              <a:buNone/>
            </a:pPr>
            <a:r>
              <a:rPr lang="fr-FR" b="1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Les 6 étapes du projet :</a:t>
            </a:r>
          </a:p>
          <a:p>
            <a:pPr>
              <a:buFont typeface="+mj-lt"/>
              <a:buAutoNum type="arabicPeriod"/>
            </a:pPr>
            <a:r>
              <a:rPr lang="fr-FR" dirty="0">
                <a:latin typeface="Arial Rounded MT Bold" panose="020F0704030504030204" pitchFamily="34" charset="0"/>
              </a:rPr>
              <a:t>Analyse des besoins et planification</a:t>
            </a:r>
          </a:p>
          <a:p>
            <a:pPr>
              <a:buFont typeface="+mj-lt"/>
              <a:buAutoNum type="arabicPeriod"/>
            </a:pPr>
            <a:r>
              <a:rPr lang="fr-FR" dirty="0">
                <a:latin typeface="Arial Rounded MT Bold" panose="020F0704030504030204" pitchFamily="34" charset="0"/>
              </a:rPr>
              <a:t>Extraction des données d’un livre</a:t>
            </a:r>
          </a:p>
          <a:p>
            <a:pPr>
              <a:buFont typeface="+mj-lt"/>
              <a:buAutoNum type="arabicPeriod"/>
            </a:pPr>
            <a:r>
              <a:rPr lang="fr-FR" dirty="0">
                <a:latin typeface="Arial Rounded MT Bold" panose="020F0704030504030204" pitchFamily="34" charset="0"/>
              </a:rPr>
              <a:t>Extraction des données d’une catégorie et gestion de la pagination</a:t>
            </a:r>
          </a:p>
          <a:p>
            <a:pPr>
              <a:buFont typeface="+mj-lt"/>
              <a:buAutoNum type="arabicPeriod"/>
            </a:pPr>
            <a:r>
              <a:rPr lang="fr-FR" dirty="0">
                <a:latin typeface="Arial Rounded MT Bold" panose="020F0704030504030204" pitchFamily="34" charset="0"/>
              </a:rPr>
              <a:t>Extraction multi-catégories</a:t>
            </a:r>
          </a:p>
          <a:p>
            <a:pPr>
              <a:buFont typeface="+mj-lt"/>
              <a:buAutoNum type="arabicPeriod"/>
            </a:pPr>
            <a:r>
              <a:rPr lang="fr-FR" dirty="0">
                <a:latin typeface="Arial Rounded MT Bold" panose="020F0704030504030204" pitchFamily="34" charset="0"/>
              </a:rPr>
              <a:t>Téléchargement des images des livres</a:t>
            </a:r>
          </a:p>
          <a:p>
            <a:pPr>
              <a:buFont typeface="+mj-lt"/>
              <a:buAutoNum type="arabicPeriod"/>
            </a:pPr>
            <a:r>
              <a:rPr lang="fr-FR" dirty="0">
                <a:latin typeface="Arial Rounded MT Bold" panose="020F0704030504030204" pitchFamily="34" charset="0"/>
              </a:rPr>
              <a:t>Organisation du code et finalisation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8D49453A-5207-162D-3000-B5BCB11D479E}"/>
              </a:ext>
            </a:extLst>
          </p:cNvPr>
          <p:cNvSpPr txBox="1">
            <a:spLocks/>
          </p:cNvSpPr>
          <p:nvPr/>
        </p:nvSpPr>
        <p:spPr>
          <a:xfrm>
            <a:off x="6586728" y="4872855"/>
            <a:ext cx="5605272" cy="1600200"/>
          </a:xfrm>
          <a:prstGeom prst="rect">
            <a:avLst/>
          </a:prstGeom>
        </p:spPr>
        <p:txBody>
          <a:bodyPr vert="horz" lIns="91440" tIns="0" rIns="91440" bIns="0" rtlCol="0">
            <a:normAutofit fontScale="92500" lnSpcReduction="20000"/>
          </a:bodyPr>
          <a:lstStyle>
            <a:defPPr>
              <a:defRPr lang="fr-FR"/>
            </a:defPPr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b="1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Technologies et outils utilisés :</a:t>
            </a:r>
          </a:p>
          <a:p>
            <a:r>
              <a:rPr lang="fr-FR" b="1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Langage</a:t>
            </a:r>
            <a:r>
              <a:rPr lang="fr-FR" dirty="0">
                <a:latin typeface="Arial Rounded MT Bold" panose="020F0704030504030204" pitchFamily="34" charset="0"/>
              </a:rPr>
              <a:t> : Python</a:t>
            </a:r>
          </a:p>
          <a:p>
            <a:r>
              <a:rPr lang="fr-FR" b="1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Modules</a:t>
            </a:r>
            <a:r>
              <a:rPr lang="fr-FR" dirty="0">
                <a:latin typeface="Arial Rounded MT Bold" panose="020F0704030504030204" pitchFamily="34" charset="0"/>
              </a:rPr>
              <a:t> : Os, </a:t>
            </a:r>
            <a:r>
              <a:rPr lang="fr-FR" dirty="0" err="1">
                <a:latin typeface="Arial Rounded MT Bold" panose="020F0704030504030204" pitchFamily="34" charset="0"/>
              </a:rPr>
              <a:t>Pahtlib</a:t>
            </a:r>
            <a:r>
              <a:rPr lang="fr-FR" dirty="0">
                <a:latin typeface="Arial Rounded MT Bold" panose="020F0704030504030204" pitchFamily="34" charset="0"/>
              </a:rPr>
              <a:t>, Re, Csv</a:t>
            </a:r>
          </a:p>
          <a:p>
            <a:r>
              <a:rPr lang="fr-FR" b="1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Bibliothèques</a:t>
            </a:r>
            <a:r>
              <a:rPr lang="fr-FR" dirty="0">
                <a:latin typeface="Arial Rounded MT Bold" panose="020F0704030504030204" pitchFamily="34" charset="0"/>
              </a:rPr>
              <a:t> : </a:t>
            </a:r>
            <a:r>
              <a:rPr lang="fr-FR" dirty="0" err="1">
                <a:latin typeface="Arial Rounded MT Bold" panose="020F0704030504030204" pitchFamily="34" charset="0"/>
              </a:rPr>
              <a:t>Requests</a:t>
            </a:r>
            <a:r>
              <a:rPr lang="fr-FR" dirty="0">
                <a:latin typeface="Arial Rounded MT Bold" panose="020F0704030504030204" pitchFamily="34" charset="0"/>
              </a:rPr>
              <a:t>, </a:t>
            </a:r>
            <a:r>
              <a:rPr lang="fr-FR" dirty="0" err="1">
                <a:latin typeface="Arial Rounded MT Bold" panose="020F0704030504030204" pitchFamily="34" charset="0"/>
              </a:rPr>
              <a:t>BeautifulSoup</a:t>
            </a:r>
            <a:endParaRPr lang="fr-FR" dirty="0">
              <a:latin typeface="Arial Rounded MT Bold" panose="020F0704030504030204" pitchFamily="34" charset="0"/>
            </a:endParaRPr>
          </a:p>
          <a:p>
            <a:r>
              <a:rPr lang="fr-FR" b="1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Environnement</a:t>
            </a:r>
            <a:r>
              <a:rPr lang="fr-FR" dirty="0">
                <a:latin typeface="Arial Rounded MT Bold" panose="020F0704030504030204" pitchFamily="34" charset="0"/>
              </a:rPr>
              <a:t> : Environnement virtuel Python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3">
            <a:extLst>
              <a:ext uri="{FF2B5EF4-FFF2-40B4-BE49-F238E27FC236}">
                <a16:creationId xmlns:a16="http://schemas.microsoft.com/office/drawing/2014/main" id="{3B253A09-A7D7-4C79-D7B1-9A44DC58E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064" y="713517"/>
            <a:ext cx="5603936" cy="808847"/>
          </a:xfrm>
        </p:spPr>
        <p:txBody>
          <a:bodyPr/>
          <a:lstStyle/>
          <a:p>
            <a:r>
              <a:rPr lang="fr-FR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Démonstration technique</a:t>
            </a:r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ADCA375F-EDFA-B04B-C558-2D6A295B3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3953238"/>
            <a:ext cx="4063041" cy="2122174"/>
          </a:xfrm>
        </p:spPr>
        <p:txBody>
          <a:bodyPr>
            <a:noAutofit/>
          </a:bodyPr>
          <a:lstStyle/>
          <a:p>
            <a:r>
              <a:rPr lang="fr-FR" sz="2800" dirty="0">
                <a:latin typeface="Arial Rounded MT Bold" panose="020F0704030504030204" pitchFamily="34" charset="0"/>
              </a:rPr>
              <a:t>Schéma du pipeline</a:t>
            </a:r>
          </a:p>
          <a:p>
            <a:r>
              <a:rPr lang="fr-FR" sz="2800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Extraction </a:t>
            </a:r>
          </a:p>
          <a:p>
            <a:r>
              <a:rPr lang="fr-FR" sz="2800" dirty="0" err="1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Tranformation</a:t>
            </a:r>
            <a:r>
              <a:rPr lang="fr-FR" sz="2800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</a:p>
          <a:p>
            <a:r>
              <a:rPr lang="fr-FR" sz="2800" dirty="0" err="1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Load</a:t>
            </a:r>
            <a:r>
              <a:rPr lang="fr-FR" sz="2800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fr-FR" sz="2800" dirty="0">
                <a:latin typeface="Arial Rounded MT Bold" panose="020F0704030504030204" pitchFamily="34" charset="0"/>
              </a:rPr>
              <a:t>(chargement) </a:t>
            </a:r>
          </a:p>
          <a:p>
            <a:r>
              <a:rPr lang="fr-FR" sz="2800" dirty="0">
                <a:latin typeface="Arial Rounded MT Bold" panose="020F0704030504030204" pitchFamily="34" charset="0"/>
              </a:rPr>
              <a:t>pour </a:t>
            </a:r>
            <a:r>
              <a:rPr lang="fr-FR" sz="2800" dirty="0" err="1">
                <a:latin typeface="Arial Rounded MT Bold" panose="020F0704030504030204" pitchFamily="34" charset="0"/>
              </a:rPr>
              <a:t>BookToScrape</a:t>
            </a:r>
            <a:endParaRPr lang="fr-FR" sz="2800" dirty="0">
              <a:latin typeface="Arial Rounded MT Bold" panose="020F070403050403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B2FB557-DA74-376D-3082-05B9AF9CC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667" y="594438"/>
            <a:ext cx="6127013" cy="610907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2" name="Espace réservé du contenu 15">
            <a:extLst>
              <a:ext uri="{FF2B5EF4-FFF2-40B4-BE49-F238E27FC236}">
                <a16:creationId xmlns:a16="http://schemas.microsoft.com/office/drawing/2014/main" id="{B1C6997E-6A8B-9921-D05B-2D342BA3E77C}"/>
              </a:ext>
            </a:extLst>
          </p:cNvPr>
          <p:cNvSpPr txBox="1">
            <a:spLocks/>
          </p:cNvSpPr>
          <p:nvPr/>
        </p:nvSpPr>
        <p:spPr>
          <a:xfrm>
            <a:off x="909345" y="2139678"/>
            <a:ext cx="4063041" cy="1289322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dirty="0">
                <a:latin typeface="Arial Rounded MT Bold" panose="020F0704030504030204" pitchFamily="34" charset="0"/>
              </a:rPr>
              <a:t>Allons voir le site : </a:t>
            </a:r>
            <a:r>
              <a:rPr lang="fr-FR" sz="2800" dirty="0" err="1">
                <a:latin typeface="Arial Rounded MT Bold" panose="020F0704030504030204" pitchFamily="34" charset="0"/>
                <a:hlinkClick r:id="rId4"/>
              </a:rPr>
              <a:t>BookToScrape</a:t>
            </a:r>
            <a:endParaRPr lang="fr-FR" sz="28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3">
            <a:extLst>
              <a:ext uri="{FF2B5EF4-FFF2-40B4-BE49-F238E27FC236}">
                <a16:creationId xmlns:a16="http://schemas.microsoft.com/office/drawing/2014/main" id="{3C028F6C-C637-129B-5B76-1E7622453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253" y="411593"/>
            <a:ext cx="9657184" cy="808847"/>
          </a:xfrm>
        </p:spPr>
        <p:txBody>
          <a:bodyPr/>
          <a:lstStyle/>
          <a:p>
            <a:r>
              <a:rPr lang="fr-FR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Démonstration technique</a:t>
            </a:r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2D9F9F84-1A1A-CD40-EDC5-AC5204B2A991}"/>
              </a:ext>
            </a:extLst>
          </p:cNvPr>
          <p:cNvSpPr txBox="1">
            <a:spLocks/>
          </p:cNvSpPr>
          <p:nvPr/>
        </p:nvSpPr>
        <p:spPr>
          <a:xfrm>
            <a:off x="3625396" y="2157984"/>
            <a:ext cx="6885992" cy="1094993"/>
          </a:xfrm>
          <a:prstGeom prst="rect">
            <a:avLst/>
          </a:prstGeom>
        </p:spPr>
        <p:txBody>
          <a:bodyPr vert="horz" lIns="91440" tIns="0" rIns="91440" bIns="0" rtlCol="0">
            <a:normAutofit fontScale="85000" lnSpcReduction="10000"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200" dirty="0">
                <a:latin typeface="Arial Rounded MT Bold" panose="020F0704030504030204" pitchFamily="34" charset="0"/>
              </a:rPr>
              <a:t>Démonstration de l’application en direct</a:t>
            </a:r>
            <a:br>
              <a:rPr lang="fr-FR" sz="3200" dirty="0">
                <a:latin typeface="Arial Rounded MT Bold" panose="020F0704030504030204" pitchFamily="34" charset="0"/>
              </a:rPr>
            </a:br>
            <a:br>
              <a:rPr lang="fr-FR" dirty="0">
                <a:latin typeface="Arial Rounded MT Bold" panose="020F0704030504030204" pitchFamily="34" charset="0"/>
              </a:rPr>
            </a:br>
            <a:r>
              <a:rPr lang="fr-FR" dirty="0">
                <a:latin typeface="Arial Rounded MT Bold" panose="020F0704030504030204" pitchFamily="34" charset="0"/>
              </a:rPr>
              <a:t> Lançons le script ! </a:t>
            </a:r>
          </a:p>
        </p:txBody>
      </p:sp>
      <p:pic>
        <p:nvPicPr>
          <p:cNvPr id="12" name="Graphique 11" descr="Caméra vidéo avec un remplissage uni">
            <a:extLst>
              <a:ext uri="{FF2B5EF4-FFF2-40B4-BE49-F238E27FC236}">
                <a16:creationId xmlns:a16="http://schemas.microsoft.com/office/drawing/2014/main" id="{258FF0C6-0893-A282-BE35-D4C4343631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65873" y="1941340"/>
            <a:ext cx="914400" cy="914400"/>
          </a:xfrm>
          <a:prstGeom prst="rect">
            <a:avLst/>
          </a:prstGeom>
        </p:spPr>
      </p:pic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 txBox="1">
            <a:spLocks/>
          </p:cNvSpPr>
          <p:nvPr/>
        </p:nvSpPr>
        <p:spPr>
          <a:xfrm>
            <a:off x="370935" y="3317943"/>
            <a:ext cx="8824823" cy="340451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 Rounded MT Bold" panose="020F0704030504030204" pitchFamily="34" charset="0"/>
                <a:hlinkClick r:id="rId6"/>
              </a:rPr>
              <a:t>Lien vers le repo git du projet</a:t>
            </a:r>
            <a:endParaRPr lang="fr-FR" dirty="0">
              <a:latin typeface="Arial Rounded MT Bold" panose="020F0704030504030204" pitchFamily="34" charset="0"/>
            </a:endParaRPr>
          </a:p>
          <a:p>
            <a:pPr lvl="1"/>
            <a:r>
              <a:rPr lang="fr-FR" dirty="0">
                <a:latin typeface="Arial Rounded MT Bold" panose="020F0704030504030204" pitchFamily="34" charset="0"/>
              </a:rPr>
              <a:t>README</a:t>
            </a:r>
          </a:p>
          <a:p>
            <a:pPr lvl="1"/>
            <a:r>
              <a:rPr lang="fr-FR" dirty="0">
                <a:latin typeface="Arial Rounded MT Bold" panose="020F0704030504030204" pitchFamily="34" charset="0"/>
              </a:rPr>
              <a:t>.</a:t>
            </a:r>
            <a:r>
              <a:rPr lang="fr-FR" dirty="0" err="1">
                <a:latin typeface="Arial Rounded MT Bold" panose="020F0704030504030204" pitchFamily="34" charset="0"/>
              </a:rPr>
              <a:t>gitignore</a:t>
            </a:r>
            <a:endParaRPr lang="fr-FR" dirty="0">
              <a:latin typeface="Arial Rounded MT Bold" panose="020F0704030504030204" pitchFamily="34" charset="0"/>
            </a:endParaRPr>
          </a:p>
          <a:p>
            <a:pPr lvl="1"/>
            <a:r>
              <a:rPr lang="fr-FR" dirty="0">
                <a:latin typeface="Arial Rounded MT Bold" panose="020F0704030504030204" pitchFamily="34" charset="0"/>
              </a:rPr>
              <a:t>Requirements.txt</a:t>
            </a:r>
          </a:p>
          <a:p>
            <a:pPr lvl="2"/>
            <a:r>
              <a:rPr lang="fr-FR" dirty="0">
                <a:latin typeface="Arial Rounded MT Bold" panose="020F0704030504030204" pitchFamily="34" charset="0"/>
              </a:rPr>
              <a:t>Pour que les développeurs puissent travailler sur le projet et/ou pour un déploiement</a:t>
            </a:r>
          </a:p>
          <a:p>
            <a:pPr lvl="2"/>
            <a:endParaRPr lang="fr-FR" dirty="0"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49" y="169564"/>
            <a:ext cx="8476490" cy="747087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POINTS CLES DE L’APPLICATION</a:t>
            </a:r>
          </a:p>
        </p:txBody>
      </p:sp>
      <p:sp>
        <p:nvSpPr>
          <p:cNvPr id="16" name="Espace réservé du contenu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911" y="1243584"/>
            <a:ext cx="8476490" cy="5303520"/>
          </a:xfrm>
        </p:spPr>
        <p:txBody>
          <a:bodyPr rtlCol="0">
            <a:normAutofit fontScale="92500" lnSpcReduction="10000"/>
          </a:bodyPr>
          <a:lstStyle>
            <a:defPPr>
              <a:defRPr lang="fr-FR"/>
            </a:defPPr>
          </a:lstStyle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Gestion des chemins relatifs/absolus</a:t>
            </a:r>
          </a:p>
          <a:p>
            <a:pPr marL="569214" lvl="1" indent="-285750">
              <a:buFont typeface="Symbol" panose="05050102010706020507" pitchFamily="18" charset="2"/>
              <a:buChar char="Þ"/>
            </a:pPr>
            <a:r>
              <a:rPr lang="fr-FR" dirty="0">
                <a:latin typeface="Arial Rounded MT Bold" panose="020F0704030504030204" pitchFamily="34" charset="0"/>
              </a:rPr>
              <a:t>Utilisation combinée des modules </a:t>
            </a:r>
            <a:r>
              <a:rPr lang="fr-FR" i="1" dirty="0">
                <a:latin typeface="Arial Rounded MT Bold" panose="020F0704030504030204" pitchFamily="34" charset="0"/>
              </a:rPr>
              <a:t>os</a:t>
            </a:r>
            <a:r>
              <a:rPr lang="fr-FR" dirty="0">
                <a:latin typeface="Arial Rounded MT Bold" panose="020F0704030504030204" pitchFamily="34" charset="0"/>
              </a:rPr>
              <a:t> et </a:t>
            </a:r>
            <a:r>
              <a:rPr lang="fr-FR" i="1" dirty="0" err="1">
                <a:latin typeface="Arial Rounded MT Bold" panose="020F0704030504030204" pitchFamily="34" charset="0"/>
              </a:rPr>
              <a:t>pathlib.Path</a:t>
            </a:r>
            <a:r>
              <a:rPr lang="fr-FR" dirty="0">
                <a:latin typeface="Arial Rounded MT Bold" panose="020F0704030504030204" pitchFamily="34" charset="0"/>
              </a:rPr>
              <a:t> pour gérer les chemins de fichiers et dossiers</a:t>
            </a:r>
          </a:p>
          <a:p>
            <a:pPr marL="569214" lvl="1" indent="-285750">
              <a:buFont typeface="Symbol" panose="05050102010706020507" pitchFamily="18" charset="2"/>
              <a:buChar char="Þ"/>
            </a:pPr>
            <a:r>
              <a:rPr lang="fr-FR" dirty="0">
                <a:latin typeface="Arial Rounded MT Bold" panose="020F0704030504030204" pitchFamily="34" charset="0"/>
              </a:rPr>
              <a:t>Fonctions </a:t>
            </a:r>
            <a:r>
              <a:rPr lang="fr-FR" i="1" dirty="0" err="1">
                <a:latin typeface="Arial Rounded MT Bold" panose="020F0704030504030204" pitchFamily="34" charset="0"/>
              </a:rPr>
              <a:t>urljoin</a:t>
            </a:r>
            <a:r>
              <a:rPr lang="fr-FR" dirty="0">
                <a:latin typeface="Arial Rounded MT Bold" panose="020F0704030504030204" pitchFamily="34" charset="0"/>
              </a:rPr>
              <a:t> et </a:t>
            </a:r>
            <a:r>
              <a:rPr lang="fr-FR" i="1" dirty="0" err="1">
                <a:latin typeface="Arial Rounded MT Bold" panose="020F0704030504030204" pitchFamily="34" charset="0"/>
              </a:rPr>
              <a:t>lstrip</a:t>
            </a:r>
            <a:r>
              <a:rPr lang="fr-FR" dirty="0">
                <a:latin typeface="Arial Rounded MT Bold" panose="020F0704030504030204" pitchFamily="34" charset="0"/>
              </a:rPr>
              <a:t> pour nettoyer et reconstruire les URLs absolues à partir de fragments d'URLs relatives</a:t>
            </a:r>
          </a:p>
          <a:p>
            <a:pPr marL="569214" lvl="1" indent="-285750">
              <a:buFont typeface="Symbol" panose="05050102010706020507" pitchFamily="18" charset="2"/>
              <a:buChar char="Þ"/>
            </a:pPr>
            <a:r>
              <a:rPr lang="fr-FR" i="1" dirty="0" err="1">
                <a:latin typeface="Arial Rounded MT Bold" panose="020F0704030504030204" pitchFamily="34" charset="0"/>
              </a:rPr>
              <a:t>Removesuffix</a:t>
            </a:r>
            <a:r>
              <a:rPr lang="fr-FR" dirty="0">
                <a:latin typeface="Arial Rounded MT Bold" panose="020F0704030504030204" pitchFamily="34" charset="0"/>
              </a:rPr>
              <a:t> pour supprimer le suffixe "index.html" lors de la navigation entre les pages multiples</a:t>
            </a:r>
          </a:p>
          <a:p>
            <a:pPr lvl="1" indent="0">
              <a:buNone/>
            </a:pPr>
            <a:endParaRPr lang="fr-FR" dirty="0">
              <a:latin typeface="Arial Rounded MT Bold" panose="020F0704030504030204" pitchFamily="34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Nommage des fichiers avec des caractères spéciaux</a:t>
            </a:r>
          </a:p>
          <a:p>
            <a:pPr marL="569214" lvl="1" indent="-285750">
              <a:buFont typeface="Symbol" panose="05050102010706020507" pitchFamily="18" charset="2"/>
              <a:buChar char="Þ"/>
            </a:pPr>
            <a:r>
              <a:rPr lang="fr-FR" dirty="0">
                <a:latin typeface="Arial Rounded MT Bold" panose="020F0704030504030204" pitchFamily="34" charset="0"/>
              </a:rPr>
              <a:t>Nettoyage des titres avec </a:t>
            </a:r>
            <a:r>
              <a:rPr lang="fr-FR" i="1" dirty="0" err="1">
                <a:latin typeface="Arial Rounded MT Bold" panose="020F0704030504030204" pitchFamily="34" charset="0"/>
              </a:rPr>
              <a:t>re.sub</a:t>
            </a:r>
            <a:r>
              <a:rPr lang="fr-FR" i="1" dirty="0">
                <a:latin typeface="Arial Rounded MT Bold" panose="020F0704030504030204" pitchFamily="34" charset="0"/>
              </a:rPr>
              <a:t> </a:t>
            </a:r>
            <a:r>
              <a:rPr lang="fr-FR" dirty="0">
                <a:latin typeface="Arial Rounded MT Bold" panose="020F0704030504030204" pitchFamily="34" charset="0"/>
              </a:rPr>
              <a:t>pour supprimer les caractères spéciaux</a:t>
            </a:r>
          </a:p>
          <a:p>
            <a:pPr marL="569214" lvl="1" indent="-285750">
              <a:buFont typeface="Symbol" panose="05050102010706020507" pitchFamily="18" charset="2"/>
              <a:buChar char="Þ"/>
            </a:pPr>
            <a:r>
              <a:rPr lang="fr-FR" dirty="0">
                <a:latin typeface="Arial Rounded MT Bold" panose="020F0704030504030204" pitchFamily="34" charset="0"/>
              </a:rPr>
              <a:t>Fonction </a:t>
            </a:r>
            <a:r>
              <a:rPr lang="fr-FR" i="1" dirty="0" err="1">
                <a:latin typeface="Arial Rounded MT Bold" panose="020F0704030504030204" pitchFamily="34" charset="0"/>
              </a:rPr>
              <a:t>recuperer_page</a:t>
            </a:r>
            <a:r>
              <a:rPr lang="fr-FR" i="1" dirty="0">
                <a:latin typeface="Arial Rounded MT Bold" panose="020F0704030504030204" pitchFamily="34" charset="0"/>
              </a:rPr>
              <a:t> </a:t>
            </a:r>
            <a:r>
              <a:rPr lang="fr-FR" dirty="0">
                <a:latin typeface="Arial Rounded MT Bold" panose="020F0704030504030204" pitchFamily="34" charset="0"/>
              </a:rPr>
              <a:t>qui encode en UTF-8 afin de récupérer les informations correctement formatées et lisibles</a:t>
            </a:r>
          </a:p>
          <a:p>
            <a:pPr lvl="1" indent="0">
              <a:buNone/>
            </a:pPr>
            <a:endParaRPr lang="fr-FR" dirty="0">
              <a:latin typeface="Arial Rounded MT Bold" panose="020F0704030504030204" pitchFamily="34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Gestion des erreurs réseau et robustesse du script</a:t>
            </a:r>
          </a:p>
          <a:p>
            <a:pPr lvl="1" indent="0">
              <a:buNone/>
            </a:pPr>
            <a:r>
              <a:rPr lang="fr-FR" dirty="0">
                <a:latin typeface="Arial Rounded MT Bold" panose="020F0704030504030204" pitchFamily="34" charset="0"/>
              </a:rPr>
              <a:t>=&gt;</a:t>
            </a:r>
            <a:r>
              <a:rPr lang="fr-FR" b="1" dirty="0">
                <a:latin typeface="Arial Rounded MT Bold" panose="020F0704030504030204" pitchFamily="34" charset="0"/>
              </a:rPr>
              <a:t> </a:t>
            </a:r>
            <a:r>
              <a:rPr lang="fr-FR" dirty="0">
                <a:latin typeface="Arial Rounded MT Bold" panose="020F0704030504030204" pitchFamily="34" charset="0"/>
              </a:rPr>
              <a:t>Vérifications systématiques des réponses HTTP dans la fonction </a:t>
            </a:r>
            <a:r>
              <a:rPr lang="fr-FR" i="1" dirty="0" err="1">
                <a:latin typeface="Arial Rounded MT Bold" panose="020F0704030504030204" pitchFamily="34" charset="0"/>
              </a:rPr>
              <a:t>recuperer_page</a:t>
            </a:r>
            <a:r>
              <a:rPr lang="fr-FR" dirty="0">
                <a:latin typeface="Arial Rounded MT Bold" panose="020F0704030504030204" pitchFamily="34" charset="0"/>
              </a:rPr>
              <a:t> pour informer l’utilisateur si la page n’est pas disponible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2">
            <a:extLst>
              <a:ext uri="{FF2B5EF4-FFF2-40B4-BE49-F238E27FC236}">
                <a16:creationId xmlns:a16="http://schemas.microsoft.com/office/drawing/2014/main" id="{FC245CA0-5FDD-785E-6ED3-387DB5960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960" y="713087"/>
            <a:ext cx="7705286" cy="626450"/>
          </a:xfrm>
        </p:spPr>
        <p:txBody>
          <a:bodyPr rtlCol="0"/>
          <a:lstStyle>
            <a:defPPr>
              <a:defRPr lang="fr-FR"/>
            </a:defPPr>
          </a:lstStyle>
          <a:p>
            <a:pPr marL="0" indent="0">
              <a:buNone/>
            </a:pPr>
            <a:r>
              <a:rPr lang="fr-FR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Améliorations possibles</a:t>
            </a:r>
          </a:p>
        </p:txBody>
      </p:sp>
      <p:sp>
        <p:nvSpPr>
          <p:cNvPr id="14" name="Espace réservé du contenu 5">
            <a:extLst>
              <a:ext uri="{FF2B5EF4-FFF2-40B4-BE49-F238E27FC236}">
                <a16:creationId xmlns:a16="http://schemas.microsoft.com/office/drawing/2014/main" id="{6AB7544F-1B78-2DD5-DFF9-FA9B860EB53A}"/>
              </a:ext>
            </a:extLst>
          </p:cNvPr>
          <p:cNvSpPr txBox="1">
            <a:spLocks/>
          </p:cNvSpPr>
          <p:nvPr/>
        </p:nvSpPr>
        <p:spPr>
          <a:xfrm>
            <a:off x="1798829" y="4189337"/>
            <a:ext cx="9166944" cy="2167273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Pour l’analyse des données par la suite : </a:t>
            </a:r>
          </a:p>
          <a:p>
            <a:r>
              <a:rPr lang="fr-FR" dirty="0">
                <a:latin typeface="Arial Rounded MT Bold" panose="020F0704030504030204" pitchFamily="34" charset="0"/>
              </a:rPr>
              <a:t>Possibilité d’utiliser des data frames</a:t>
            </a:r>
          </a:p>
          <a:p>
            <a:r>
              <a:rPr lang="fr-FR" dirty="0">
                <a:latin typeface="Arial Rounded MT Bold" panose="020F0704030504030204" pitchFamily="34" charset="0"/>
              </a:rPr>
              <a:t>Possibilité de persister les informations dans une base de données avec une interface utilisateur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19F521C-8455-F92D-01D1-4BE1323A7868}"/>
              </a:ext>
            </a:extLst>
          </p:cNvPr>
          <p:cNvSpPr txBox="1"/>
          <p:nvPr/>
        </p:nvSpPr>
        <p:spPr>
          <a:xfrm>
            <a:off x="1226227" y="1856496"/>
            <a:ext cx="973954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accent6"/>
                </a:solidFill>
                <a:latin typeface="Arial Rounded MT Bold" panose="020F0704030504030204" pitchFamily="34" charset="0"/>
              </a:rPr>
              <a:t>Adapter le produit à différents sites de vente de livres en lignes.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accent6"/>
                </a:solidFill>
                <a:latin typeface="Arial Rounded MT Bold" panose="020F0704030504030204" pitchFamily="34" charset="0"/>
              </a:rPr>
              <a:t>Ajouter dans le système de création de dossier une </a:t>
            </a:r>
            <a:r>
              <a:rPr lang="fr-FR" sz="2800" dirty="0" err="1">
                <a:solidFill>
                  <a:schemeClr val="accent6"/>
                </a:solidFill>
                <a:latin typeface="Arial Rounded MT Bold" panose="020F0704030504030204" pitchFamily="34" charset="0"/>
              </a:rPr>
              <a:t>Datetime</a:t>
            </a:r>
            <a:r>
              <a:rPr lang="fr-FR" sz="2800" dirty="0">
                <a:solidFill>
                  <a:schemeClr val="accent6"/>
                </a:solidFill>
                <a:latin typeface="Arial Rounded MT Bold" panose="020F0704030504030204" pitchFamily="34" charset="0"/>
              </a:rPr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864" y="1853729"/>
            <a:ext cx="5201728" cy="2632919"/>
          </a:xfrm>
        </p:spPr>
        <p:txBody>
          <a:bodyPr rtlCol="0"/>
          <a:lstStyle>
            <a:defPPr>
              <a:defRPr lang="fr-FR"/>
            </a:defPPr>
          </a:lstStyle>
          <a:p>
            <a:pPr algn="ctr" rtl="0"/>
            <a:r>
              <a:rPr lang="fr-FR" sz="5400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Questions et discutions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023" y="5542838"/>
            <a:ext cx="6719977" cy="1198342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 dirty="0">
                <a:latin typeface="Arial Rounded MT Bold" panose="020F0704030504030204" pitchFamily="34" charset="0"/>
              </a:rPr>
              <a:t>Magali NOTTEGHEM</a:t>
            </a:r>
          </a:p>
          <a:p>
            <a:r>
              <a:rPr lang="fr-FR" dirty="0">
                <a:latin typeface="Arial Rounded MT Bold" panose="020F0704030504030204" pitchFamily="34" charset="0"/>
              </a:rPr>
              <a:t>« Utilisez les bases de Python pour l'analyse de marché »</a:t>
            </a:r>
          </a:p>
          <a:p>
            <a:pPr rtl="0"/>
            <a:endParaRPr lang="fr-FR" dirty="0">
              <a:latin typeface="Arial Rounded MT Bold" panose="020F070403050403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BC8D804-CC76-1DF7-FA2F-760D6DD13CF1}"/>
              </a:ext>
            </a:extLst>
          </p:cNvPr>
          <p:cNvSpPr txBox="1"/>
          <p:nvPr/>
        </p:nvSpPr>
        <p:spPr>
          <a:xfrm>
            <a:off x="960120" y="475488"/>
            <a:ext cx="4169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Où en est le script ?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|12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5.4|40.4|18.7|32.5|28.7|34.2|28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9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77.4|37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|57"/>
</p:tagLst>
</file>

<file path=ppt/theme/theme1.xml><?xml version="1.0" encoding="utf-8"?>
<a:theme xmlns:a="http://schemas.openxmlformats.org/drawingml/2006/main" name="Personnalisé">
  <a:themeElements>
    <a:clrScheme name="Personnalisé 3">
      <a:dk1>
        <a:srgbClr val="000000"/>
      </a:dk1>
      <a:lt1>
        <a:srgbClr val="FDFAF6"/>
      </a:lt1>
      <a:dk2>
        <a:srgbClr val="00838F"/>
      </a:dk2>
      <a:lt2>
        <a:srgbClr val="E7E6E6"/>
      </a:lt2>
      <a:accent1>
        <a:srgbClr val="EB5B8E"/>
      </a:accent1>
      <a:accent2>
        <a:srgbClr val="D71B60"/>
      </a:accent2>
      <a:accent3>
        <a:srgbClr val="F3E3CD"/>
      </a:accent3>
      <a:accent4>
        <a:srgbClr val="F1D3D3"/>
      </a:accent4>
      <a:accent5>
        <a:srgbClr val="82B5BC"/>
      </a:accent5>
      <a:accent6>
        <a:srgbClr val="62959C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5_TF78438558_Win32" id="{3A360CBA-99A0-49ED-B63F-2D1627BB2518}" vid="{56FFFEFC-6F1D-4078-81C7-9B5A182BBA3B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{F7A8539A-933A-419A-AB69-2F1A96D5CA29}tf78438558_win32</Template>
  <TotalTime>710</TotalTime>
  <Words>471</Words>
  <Application>Microsoft Office PowerPoint</Application>
  <PresentationFormat>Grand écran</PresentationFormat>
  <Paragraphs>80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Arial</vt:lpstr>
      <vt:lpstr>Arial Black</vt:lpstr>
      <vt:lpstr>Arial Rounded MT Bold</vt:lpstr>
      <vt:lpstr>Calibri</vt:lpstr>
      <vt:lpstr>Sabon Next LT</vt:lpstr>
      <vt:lpstr>Symbol</vt:lpstr>
      <vt:lpstr>Personnalisé</vt:lpstr>
      <vt:lpstr>Extraction de données et création d’un pipeline ETL avec Python</vt:lpstr>
      <vt:lpstr>SOMMAIRE</vt:lpstr>
      <vt:lpstr>CONTEXTE</vt:lpstr>
      <vt:lpstr>Objectif du projet</vt:lpstr>
      <vt:lpstr>Processus et méthodologie</vt:lpstr>
      <vt:lpstr>Démonstration technique</vt:lpstr>
      <vt:lpstr>Démonstration technique</vt:lpstr>
      <vt:lpstr>POINTS CLES DE L’APPLICATION</vt:lpstr>
      <vt:lpstr>Améliorations possibles</vt:lpstr>
      <vt:lpstr>Questions et discutions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Magali NOTT</dc:creator>
  <cp:lastModifiedBy>Magali NOTT</cp:lastModifiedBy>
  <cp:revision>11</cp:revision>
  <dcterms:created xsi:type="dcterms:W3CDTF">2024-12-14T18:47:48Z</dcterms:created>
  <dcterms:modified xsi:type="dcterms:W3CDTF">2024-12-20T14:44:18Z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